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547"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034596" cy="743448"/>
          </a:xfrm>
        </p:spPr>
        <p:txBody>
          <a:bodyPr>
            <a:normAutofit fontScale="90000"/>
          </a:bodyPr>
          <a:lstStyle/>
          <a:p>
            <a:r>
              <a:rPr lang="en-GB" sz="3200" dirty="0"/>
              <a:t>Project Title -</a:t>
            </a:r>
            <a:r>
              <a:rPr lang="en-IN" dirty="0"/>
              <a:t>Seasonal Agriculture Performance Analysis</a:t>
            </a: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641524" y="4653540"/>
            <a:ext cx="3791876" cy="646331"/>
          </a:xfrm>
          <a:prstGeom prst="rect">
            <a:avLst/>
          </a:prstGeom>
          <a:noFill/>
        </p:spPr>
        <p:txBody>
          <a:bodyPr wrap="square" rtlCol="0">
            <a:spAutoFit/>
          </a:bodyPr>
          <a:lstStyle/>
          <a:p>
            <a:r>
              <a:rPr lang="en-US" b="1" dirty="0"/>
              <a:t>AICTE STU ID :</a:t>
            </a:r>
            <a:r>
              <a:rPr lang="en-IN" dirty="0"/>
              <a:t> STU6a218cce54df81780583630 </a:t>
            </a:r>
            <a:endParaRPr lang="en-US" b="1" dirty="0"/>
          </a:p>
        </p:txBody>
      </p:sp>
      <p:sp>
        <p:nvSpPr>
          <p:cNvPr id="7" name="Text Placeholder 6">
            <a:extLst>
              <a:ext uri="{FF2B5EF4-FFF2-40B4-BE49-F238E27FC236}">
                <a16:creationId xmlns:a16="http://schemas.microsoft.com/office/drawing/2014/main" id="{DB18F541-C827-4D5F-A5AB-7077A5A625AE}"/>
              </a:ext>
            </a:extLst>
          </p:cNvPr>
          <p:cNvSpPr>
            <a:spLocks noGrp="1"/>
          </p:cNvSpPr>
          <p:nvPr>
            <p:ph type="body" sz="quarter" idx="11"/>
          </p:nvPr>
        </p:nvSpPr>
        <p:spPr>
          <a:xfrm>
            <a:off x="1558005" y="3773873"/>
            <a:ext cx="4842795" cy="365964"/>
          </a:xfrm>
        </p:spPr>
        <p:txBody>
          <a:bodyPr>
            <a:normAutofit fontScale="92500" lnSpcReduction="10000"/>
          </a:bodyPr>
          <a:lstStyle/>
          <a:p>
            <a:pPr algn="r"/>
            <a:r>
              <a:rPr lang="en-US" b="0" dirty="0">
                <a:solidFill>
                  <a:schemeClr val="tx1"/>
                </a:solidFill>
              </a:rPr>
              <a:t>Student Name- Anjali </a:t>
            </a:r>
            <a:r>
              <a:rPr lang="en-US" b="0" dirty="0" err="1">
                <a:solidFill>
                  <a:schemeClr val="tx1"/>
                </a:solidFill>
              </a:rPr>
              <a:t>Prempratap</a:t>
            </a:r>
            <a:r>
              <a:rPr lang="en-US" b="0" dirty="0">
                <a:solidFill>
                  <a:schemeClr val="tx1"/>
                </a:solidFill>
              </a:rPr>
              <a:t> Sharma</a:t>
            </a:r>
          </a:p>
        </p:txBody>
      </p:sp>
      <p:sp>
        <p:nvSpPr>
          <p:cNvPr id="8" name="TextBox 7">
            <a:extLst>
              <a:ext uri="{FF2B5EF4-FFF2-40B4-BE49-F238E27FC236}">
                <a16:creationId xmlns:a16="http://schemas.microsoft.com/office/drawing/2014/main" id="{AE5D85BC-53CD-468E-B9B4-F1C90DBAACA0}"/>
              </a:ext>
            </a:extLst>
          </p:cNvPr>
          <p:cNvSpPr txBox="1"/>
          <p:nvPr/>
        </p:nvSpPr>
        <p:spPr>
          <a:xfrm>
            <a:off x="1641524" y="4169201"/>
            <a:ext cx="6324937" cy="369332"/>
          </a:xfrm>
          <a:prstGeom prst="rect">
            <a:avLst/>
          </a:prstGeom>
          <a:noFill/>
        </p:spPr>
        <p:txBody>
          <a:bodyPr wrap="none" rtlCol="0">
            <a:spAutoFit/>
          </a:bodyPr>
          <a:lstStyle/>
          <a:p>
            <a:pPr algn="r"/>
            <a:r>
              <a:rPr lang="en-US" b="0" dirty="0">
                <a:solidFill>
                  <a:schemeClr val="tx1"/>
                </a:solidFill>
              </a:rPr>
              <a:t>College Name- Shree Swaminarayan Institute of Technology</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996854"/>
            <a:ext cx="6431280" cy="3607987"/>
          </a:xfrm>
        </p:spPr>
        <p:txBody>
          <a:bodyPr vert="horz" lIns="91440" tIns="45720" rIns="91440" bIns="45720" rtlCol="0" anchor="t">
            <a:normAutofit fontScale="55000" lnSpcReduction="20000"/>
          </a:bodyPr>
          <a:lstStyle/>
          <a:p>
            <a:pPr algn="just">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750748"/>
            <a:ext cx="6260551" cy="3222468"/>
          </a:xfrm>
        </p:spPr>
        <p:txBody>
          <a:bodyPr>
            <a:noAutofit/>
          </a:bodyPr>
          <a:lstStyle/>
          <a:p>
            <a:pPr algn="just"/>
            <a:br>
              <a:rPr lang="en-GB" sz="1800" dirty="0"/>
            </a:br>
            <a:r>
              <a:rPr lang="en-US" sz="1800" b="0" dirty="0"/>
              <a:t>Seasonal Agriculture Performance Analysis is a data analysis project that examines agricultural performance across different seasons, crops, regions, farming practices, and environmental conditions. The project uses the provided agricultural dataset to identify </a:t>
            </a:r>
            <a:r>
              <a:rPr lang="en-US" sz="1800" b="0" dirty="0">
                <a:latin typeface="+mn-lt"/>
              </a:rPr>
              <a:t>seasonal</a:t>
            </a:r>
            <a:r>
              <a:rPr lang="en-US" sz="1800" b="0" dirty="0"/>
              <a:t> variations in yield, production, water usage, profitability, and disease/pest risk. Through data cleaning, statistical analysis, and </a:t>
            </a:r>
            <a:r>
              <a:rPr lang="en-US" sz="1800" b="0" dirty="0">
                <a:latin typeface="+mn-lt"/>
              </a:rPr>
              <a:t>visualization</a:t>
            </a:r>
            <a:r>
              <a:rPr lang="en-US" sz="1800" b="0" dirty="0"/>
              <a:t>, meaningful patterns and relationships are identified to support evidence-based agricultural planning and decision-making.</a:t>
            </a:r>
            <a:r>
              <a:rPr lang="en-GB" sz="1800" b="0" dirty="0"/>
              <a:t>  </a:t>
            </a: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3D6081C-12DD-4B31-958C-A65CE2EC9824}"/>
              </a:ext>
            </a:extLst>
          </p:cNvPr>
          <p:cNvSpPr txBox="1"/>
          <p:nvPr/>
        </p:nvSpPr>
        <p:spPr>
          <a:xfrm>
            <a:off x="675957" y="507259"/>
            <a:ext cx="6001964" cy="754053"/>
          </a:xfrm>
          <a:prstGeom prst="rect">
            <a:avLst/>
          </a:prstGeom>
          <a:noFill/>
        </p:spPr>
        <p:txBody>
          <a:bodyPr wrap="none" rtlCol="0">
            <a:spAutoFit/>
          </a:bodyPr>
          <a:lstStyle/>
          <a:p>
            <a:r>
              <a:rPr lang="en-GB" sz="4300" b="1" dirty="0"/>
              <a:t>PROJECT</a:t>
            </a:r>
            <a:r>
              <a:rPr lang="en-GB" sz="3600" b="1" dirty="0"/>
              <a:t> </a:t>
            </a:r>
            <a:r>
              <a:rPr lang="en-GB" sz="4300" b="1" dirty="0"/>
              <a:t>DESCRIPTION</a:t>
            </a:r>
            <a:endParaRPr lang="en-IN" sz="4300" b="1"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10000"/>
          </a:bodyPr>
          <a:lstStyle/>
          <a:p>
            <a:pPr algn="just">
              <a:lnSpc>
                <a:spcPct val="150000"/>
              </a:lnSpc>
            </a:pPr>
            <a:r>
              <a:rPr lang="en-US" sz="3600" dirty="0"/>
              <a:t>Farmers </a:t>
            </a:r>
          </a:p>
          <a:p>
            <a:pPr algn="just">
              <a:lnSpc>
                <a:spcPct val="150000"/>
              </a:lnSpc>
            </a:pPr>
            <a:r>
              <a:rPr lang="en-US" sz="3600" dirty="0"/>
              <a:t>Agricultural Advisors </a:t>
            </a:r>
          </a:p>
          <a:p>
            <a:pPr algn="just">
              <a:lnSpc>
                <a:spcPct val="150000"/>
              </a:lnSpc>
            </a:pPr>
            <a:r>
              <a:rPr lang="en-US" sz="3600" dirty="0"/>
              <a:t>Government Agriculture Departments </a:t>
            </a:r>
          </a:p>
          <a:p>
            <a:pPr algn="just">
              <a:lnSpc>
                <a:spcPct val="150000"/>
              </a:lnSpc>
            </a:pPr>
            <a:r>
              <a:rPr lang="en-US" sz="3600" dirty="0"/>
              <a:t>Agricultural Researchers &amp; Data Analysts </a:t>
            </a:r>
          </a:p>
          <a:p>
            <a:pPr algn="just">
              <a:lnSpc>
                <a:spcPct val="150000"/>
              </a:lnSpc>
            </a:pPr>
            <a:r>
              <a:rPr lang="en-US" sz="3600" dirty="0"/>
              <a:t>Resource Management Teams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38B19BB2-5E6C-43B8-BD98-AFF6CAA956EE}"/>
              </a:ext>
            </a:extLst>
          </p:cNvPr>
          <p:cNvSpPr>
            <a:spLocks noGrp="1" noChangeArrowheads="1"/>
          </p:cNvSpPr>
          <p:nvPr>
            <p:ph type="body" sz="quarter" idx="12"/>
          </p:nvPr>
        </p:nvSpPr>
        <p:spPr bwMode="auto">
          <a:xfrm>
            <a:off x="828350" y="1536098"/>
            <a:ext cx="719940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Main programming language for data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 Data loading, cleaning, transformation, and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 Numerical and statistical operations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 Data visualization and graphical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Seaborn</a:t>
            </a:r>
            <a:r>
              <a:rPr kumimoji="0" lang="en-US" altLang="en-US" sz="1800" b="0" i="0" u="none" strike="noStrike" cap="none" normalizeH="0" baseline="0" dirty="0">
                <a:ln>
                  <a:noFill/>
                </a:ln>
                <a:solidFill>
                  <a:schemeClr val="tx1"/>
                </a:solidFill>
                <a:effectLst/>
                <a:latin typeface="Arial" panose="020B0604020202020204" pitchFamily="34" charset="0"/>
              </a:rPr>
              <a:t> – Statistical visualizations and relationship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Google </a:t>
            </a:r>
            <a:r>
              <a:rPr kumimoji="0" lang="en-US" altLang="en-US" sz="1800" b="1"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 Development and execution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CSV Dataset</a:t>
            </a:r>
            <a:r>
              <a:rPr kumimoji="0" lang="en-US" altLang="en-US" sz="1800" b="0" i="0" u="none" strike="noStrike" cap="none" normalizeH="0" baseline="0" dirty="0">
                <a:ln>
                  <a:noFill/>
                </a:ln>
                <a:solidFill>
                  <a:schemeClr val="tx1"/>
                </a:solidFill>
                <a:effectLst/>
                <a:latin typeface="Arial" panose="020B0604020202020204" pitchFamily="34" charset="0"/>
              </a:rPr>
              <a:t> – Provided agricultural dataset used for analysis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5F63E14-B766-4BF2-A942-1662E2BC4B16}"/>
              </a:ext>
            </a:extLst>
          </p:cNvPr>
          <p:cNvPicPr>
            <a:picLocks noChangeAspect="1"/>
          </p:cNvPicPr>
          <p:nvPr/>
        </p:nvPicPr>
        <p:blipFill rotWithShape="1">
          <a:blip r:embed="rId3"/>
          <a:srcRect r="47270"/>
          <a:stretch/>
        </p:blipFill>
        <p:spPr>
          <a:xfrm>
            <a:off x="807164" y="1201586"/>
            <a:ext cx="6428792" cy="507732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E5D33C42-24CB-408B-B2BE-4F7CD38AEB1E}"/>
              </a:ext>
            </a:extLst>
          </p:cNvPr>
          <p:cNvPicPr>
            <a:picLocks noChangeAspect="1"/>
          </p:cNvPicPr>
          <p:nvPr/>
        </p:nvPicPr>
        <p:blipFill rotWithShape="1">
          <a:blip r:embed="rId3"/>
          <a:srcRect t="2538" r="40650"/>
          <a:stretch/>
        </p:blipFill>
        <p:spPr>
          <a:xfrm>
            <a:off x="807164" y="1275372"/>
            <a:ext cx="6452911" cy="492948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36F83587-CC34-4C5B-866F-61543D6B2B27}"/>
              </a:ext>
            </a:extLst>
          </p:cNvPr>
          <p:cNvPicPr>
            <a:picLocks noChangeAspect="1"/>
          </p:cNvPicPr>
          <p:nvPr/>
        </p:nvPicPr>
        <p:blipFill rotWithShape="1">
          <a:blip r:embed="rId3"/>
          <a:srcRect r="40452"/>
          <a:stretch/>
        </p:blipFill>
        <p:spPr>
          <a:xfrm>
            <a:off x="807164" y="1275371"/>
            <a:ext cx="6525379" cy="492948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5323CC9A-B0DB-4C2F-9AC4-20C5113ACA75}"/>
              </a:ext>
            </a:extLst>
          </p:cNvPr>
          <p:cNvPicPr>
            <a:picLocks noChangeAspect="1"/>
          </p:cNvPicPr>
          <p:nvPr/>
        </p:nvPicPr>
        <p:blipFill rotWithShape="1">
          <a:blip r:embed="rId3"/>
          <a:srcRect r="35968"/>
          <a:stretch/>
        </p:blipFill>
        <p:spPr>
          <a:xfrm>
            <a:off x="807165" y="1275371"/>
            <a:ext cx="6577732" cy="492948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A3276AEB-0B30-4DA2-8579-DBDDFA6C5698}"/>
              </a:ext>
            </a:extLst>
          </p:cNvPr>
          <p:cNvPicPr>
            <a:picLocks noChangeAspect="1"/>
          </p:cNvPicPr>
          <p:nvPr/>
        </p:nvPicPr>
        <p:blipFill rotWithShape="1">
          <a:blip r:embed="rId3"/>
          <a:srcRect r="30000"/>
          <a:stretch/>
        </p:blipFill>
        <p:spPr>
          <a:xfrm>
            <a:off x="807165" y="1275371"/>
            <a:ext cx="7091026" cy="492948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B822487-47AF-4511-AB3D-468C188FF258}"/>
              </a:ext>
            </a:extLst>
          </p:cNvPr>
          <p:cNvPicPr>
            <a:picLocks noChangeAspect="1"/>
          </p:cNvPicPr>
          <p:nvPr/>
        </p:nvPicPr>
        <p:blipFill rotWithShape="1">
          <a:blip r:embed="rId3"/>
          <a:srcRect r="38953"/>
          <a:stretch/>
        </p:blipFill>
        <p:spPr>
          <a:xfrm>
            <a:off x="807164" y="1348819"/>
            <a:ext cx="6577732" cy="4856039"/>
          </a:xfrm>
          <a:prstGeom prst="rect">
            <a:avLst/>
          </a:prstGeom>
        </p:spPr>
      </p:pic>
    </p:spTree>
    <p:extLst>
      <p:ext uri="{BB962C8B-B14F-4D97-AF65-F5344CB8AC3E}">
        <p14:creationId xmlns:p14="http://schemas.microsoft.com/office/powerpoint/2010/main" val="219146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16EB3DB4-A82F-4BB3-B0E4-82038ACD857F}"/>
              </a:ext>
            </a:extLst>
          </p:cNvPr>
          <p:cNvSpPr>
            <a:spLocks noChangeArrowheads="1"/>
          </p:cNvSpPr>
          <p:nvPr/>
        </p:nvSpPr>
        <p:spPr bwMode="auto">
          <a:xfrm>
            <a:off x="675957" y="1371422"/>
            <a:ext cx="77910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AI-Based Crop Yield Prediction – Predict future crop yield using historical and environmental data.</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Smart Crop Recommendation – Recommend suitable crops based on season, soil, rainfall, and resource availability.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Weather-Based Risk Prediction – Predict the impact of weather conditions on crop performance.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Disease &amp; Pest Early Warning – Provide early alerts for seasons with higher disease and pest risks.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Regional Analysis – Extend the analysis to different geographical regions and farming conditions.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Real-Time Agricultural Dashboard – Integrate live weather, soil, and crop data for continuous monitoring.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Resource Optimization – Develop AI-driven recommendations for efficient water, fertilizer, and irrigation usage.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C7155D22-4C03-4421-9677-9E32D4E2C682}"/>
              </a:ext>
            </a:extLst>
          </p:cNvPr>
          <p:cNvSpPr txBox="1"/>
          <p:nvPr/>
        </p:nvSpPr>
        <p:spPr>
          <a:xfrm>
            <a:off x="683211" y="1275371"/>
            <a:ext cx="9457088" cy="369332"/>
          </a:xfrm>
          <a:prstGeom prst="rect">
            <a:avLst/>
          </a:prstGeom>
          <a:noFill/>
        </p:spPr>
        <p:txBody>
          <a:bodyPr wrap="square">
            <a:spAutoFit/>
          </a:bodyPr>
          <a:lstStyle/>
          <a:p>
            <a:r>
              <a:rPr lang="en-IN" dirty="0"/>
              <a:t>https://github.com/AnjaliSharma070/Seasonal-Agriculture-Performance-Analysis.git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74C9820-4FFC-42FB-AD5D-67F41ED9D89B}"/>
              </a:ext>
            </a:extLst>
          </p:cNvPr>
          <p:cNvPicPr>
            <a:picLocks noChangeAspect="1"/>
          </p:cNvPicPr>
          <p:nvPr/>
        </p:nvPicPr>
        <p:blipFill rotWithShape="1">
          <a:blip r:embed="rId3"/>
          <a:srcRect/>
          <a:stretch/>
        </p:blipFill>
        <p:spPr>
          <a:xfrm>
            <a:off x="821094" y="1364577"/>
            <a:ext cx="7380514" cy="52056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799684"/>
            <a:ext cx="11340000" cy="700114"/>
          </a:xfrm>
          <a:prstGeom prst="rect">
            <a:avLst/>
          </a:prstGeom>
        </p:spPr>
        <p:txBody>
          <a:bodyPr anchor="ctr">
            <a:noAutofit/>
          </a:bodyPr>
          <a:lstStyle/>
          <a:p>
            <a:pPr algn="ctr"/>
            <a:r>
              <a:rPr lang="en-US" sz="8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625</TotalTime>
  <Words>479</Words>
  <Application>Microsoft Office PowerPoint</Application>
  <PresentationFormat>Widescreen</PresentationFormat>
  <Paragraphs>42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 </vt:lpstr>
      <vt:lpstr>PROBLEM  STATEMENT</vt:lpstr>
      <vt:lpstr> Seasonal Agriculture Performance Analysis is a data analysis project that examines agricultural performance across different seasons, crops, regions, farming practices, and environmental conditions. The project uses the provided agricultural dataset to identify seasonal variations in yield, production, water usage, profitability, and disease/pest risk. Through data cleaning, statistical analysis, and visualization, meaningful patterns and relationships are identified to support evidence-based agricultural planning and decision-making.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SHARMA</cp:lastModifiedBy>
  <cp:revision>98</cp:revision>
  <dcterms:created xsi:type="dcterms:W3CDTF">2021-07-11T13:13:15Z</dcterms:created>
  <dcterms:modified xsi:type="dcterms:W3CDTF">2026-09-08T11:53:46Z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